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bddc4c0e504b9f" /><Relationship Type="http://schemas.openxmlformats.org/officeDocument/2006/relationships/extended-properties" Target="/docProps/app.xml" Id="R342d0da3b27f423e" /><Relationship Type="http://schemas.openxmlformats.org/officeDocument/2006/relationships/officeDocument" Target="/ppt/presentation.xml" Id="R0867bce3ddfb41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7cfefb4c084de0"/>
    <p:sldMasterId xmlns:r="http://schemas.openxmlformats.org/officeDocument/2006/relationships" id="2147483650" r:id="Rd1803542944241be"/>
    <p:sldMasterId xmlns:r="http://schemas.openxmlformats.org/officeDocument/2006/relationships" id="2147483652" r:id="Rf25518751c874c84"/>
    <p:sldMasterId xmlns:r="http://schemas.openxmlformats.org/officeDocument/2006/relationships" id="2147483654" r:id="Re45f1d3eb77b4cfb"/>
    <p:sldMasterId xmlns:r="http://schemas.openxmlformats.org/officeDocument/2006/relationships" id="2147483656" r:id="R7926702ad78c4451"/>
    <p:sldMasterId xmlns:r="http://schemas.openxmlformats.org/officeDocument/2006/relationships" id="2147483658" r:id="Rcb50f49adf0847b6"/>
    <p:sldMasterId xmlns:r="http://schemas.openxmlformats.org/officeDocument/2006/relationships" id="2147483660" r:id="Reae17726b7db4888"/>
    <p:sldMasterId xmlns:r="http://schemas.openxmlformats.org/officeDocument/2006/relationships" id="2147483662" r:id="R36945e35f3e7472d"/>
    <p:sldMasterId xmlns:r="http://schemas.openxmlformats.org/officeDocument/2006/relationships" id="2147483664" r:id="R889a64205dd54aed"/>
    <p:sldMasterId xmlns:r="http://schemas.openxmlformats.org/officeDocument/2006/relationships" id="2147483666" r:id="R234b83c464e74d23"/>
    <p:sldMasterId xmlns:r="http://schemas.openxmlformats.org/officeDocument/2006/relationships" id="2147483668" r:id="R890eaf5d056a4011"/>
    <p:sldMasterId xmlns:r="http://schemas.openxmlformats.org/officeDocument/2006/relationships" id="2147483670" r:id="R4092dae5195a43ca"/>
  </p:sldMasterIdLst>
  <p:notesMasterIdLst>
    <p:notesMasterId xmlns:r="http://schemas.openxmlformats.org/officeDocument/2006/relationships" r:id="R12088371a9764cb3"/>
  </p:notesMasterIdLst>
  <p:sldIdLst>
    <p:sldId xmlns:r="http://schemas.openxmlformats.org/officeDocument/2006/relationships" id="256" r:id="Rf5cb461a350a458c"/>
  </p:sldIdLst>
  <p:sldSz cx="28803600" cy="43205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d00cfedaa34276" /><Relationship Type="http://schemas.openxmlformats.org/officeDocument/2006/relationships/slideMaster" Target="/ppt/slideMasters/slideMaster1.xml" Id="R047cfefb4c084de0" /><Relationship Type="http://schemas.openxmlformats.org/officeDocument/2006/relationships/slideMaster" Target="/ppt/slideMasters/slideMaster2.xml" Id="Rd1803542944241be" /><Relationship Type="http://schemas.openxmlformats.org/officeDocument/2006/relationships/slideMaster" Target="/ppt/slideMasters/slideMaster3.xml" Id="Rf25518751c874c84" /><Relationship Type="http://schemas.openxmlformats.org/officeDocument/2006/relationships/slideMaster" Target="/ppt/slideMasters/slideMaster4.xml" Id="Re45f1d3eb77b4cfb" /><Relationship Type="http://schemas.openxmlformats.org/officeDocument/2006/relationships/slideMaster" Target="/ppt/slideMasters/slideMaster5.xml" Id="R7926702ad78c4451" /><Relationship Type="http://schemas.openxmlformats.org/officeDocument/2006/relationships/slideMaster" Target="/ppt/slideMasters/slideMaster6.xml" Id="Rcb50f49adf0847b6" /><Relationship Type="http://schemas.openxmlformats.org/officeDocument/2006/relationships/slideMaster" Target="/ppt/slideMasters/slideMaster7.xml" Id="Reae17726b7db4888" /><Relationship Type="http://schemas.openxmlformats.org/officeDocument/2006/relationships/slideMaster" Target="/ppt/slideMasters/slideMaster8.xml" Id="R36945e35f3e7472d" /><Relationship Type="http://schemas.openxmlformats.org/officeDocument/2006/relationships/slideMaster" Target="/ppt/slideMasters/slideMaster9.xml" Id="R889a64205dd54aed" /><Relationship Type="http://schemas.openxmlformats.org/officeDocument/2006/relationships/slideMaster" Target="/ppt/slideMasters/slideMaster10.xml" Id="R234b83c464e74d23" /><Relationship Type="http://schemas.openxmlformats.org/officeDocument/2006/relationships/slideMaster" Target="/ppt/slideMasters/slideMaster11.xml" Id="R890eaf5d056a4011" /><Relationship Type="http://schemas.openxmlformats.org/officeDocument/2006/relationships/slideMaster" Target="/ppt/slideMasters/slideMaster12.xml" Id="R4092dae5195a43ca" /><Relationship Type="http://schemas.openxmlformats.org/officeDocument/2006/relationships/notesMaster" Target="/ppt/notesMasters/notesMaster1.xml" Id="R12088371a9764cb3" /><Relationship Type="http://schemas.openxmlformats.org/officeDocument/2006/relationships/presProps" Target="/ppt/presProps.xml" Id="R6a55f8247e0d43eb" /><Relationship Type="http://schemas.openxmlformats.org/officeDocument/2006/relationships/viewProps" Target="/ppt/viewProps.xml" Id="Rff4464152aa9467b" /><Relationship Type="http://schemas.openxmlformats.org/officeDocument/2006/relationships/tableStyles" Target="/ppt/tableStyles.xml" Id="R64f7326ef48b4878" /><Relationship Type="http://schemas.openxmlformats.org/officeDocument/2006/relationships/slide" Target="/ppt/slides/slide1.xml" Id="Rf5cb461a350a45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4.xml" Id="R1fa765e9210648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5d1acece99411e" /><Relationship Type="http://schemas.openxmlformats.org/officeDocument/2006/relationships/notesMaster" Target="/ppt/notesMasters/notesMaster1.xml" Id="Rd07b1f0b5f134f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Comissão Coordenadora da 35ª META. Template e orientações para elaboração do banner, 2026.</a:t>
            </a:r>
          </a:p>
          <a:p xmlns:a="http://schemas.openxmlformats.org/drawingml/2006/main">
            <a:r>
              <a:t>- CEFET-MG. Edital da 35ª META e retificação, 2026.</a:t>
            </a:r>
          </a:p>
          <a:p xmlns:a="http://schemas.openxmlformats.org/drawingml/2006/main">
            <a:r>
              <a:t>- SCHOOLSYNC. Documentação do software SchoolSync. Timóteo: CEFET-MG, 2026.</a:t>
            </a:r>
          </a:p>
          <a:p xmlns:a="http://schemas.openxmlformats.org/drawingml/2006/main">
            <a:r>
              <a:t>- Capturas autênticas do aplicativo SchoolSync fornecidas pelo usuário em 25/08/2026: início/calendário, sala/atividade/membros e caderno.</a:t>
            </a:r>
          </a:p>
          <a:p xmlns:a="http://schemas.openxmlformats.org/drawingml/2006/main">
            <a:r>
              <a:t>- Angular: https://angular.dev</a:t>
            </a:r>
          </a:p>
          <a:p xmlns:a="http://schemas.openxmlformats.org/drawingml/2006/main">
            <a:r>
              <a:t>- Ionic Framework: https://ionicframework.com</a:t>
            </a:r>
          </a:p>
          <a:p xmlns:a="http://schemas.openxmlformats.org/drawingml/2006/main">
            <a:r>
              <a:t>- Spring Boot: https://spring.io/projects/spring-boot</a:t>
            </a:r>
          </a:p>
          <a:p xmlns:a="http://schemas.openxmlformats.org/drawingml/2006/main">
            <a:r>
              <a:t>- Verificação local em 20/08/2026: build do frontend e 6 testes automatizados da API.</a:t>
            </a:r>
          </a:p>
          <a:p xmlns:a="http://schemas.openxmlformats.org/drawingml/2006/main">
            <a:r>
              <a:t>
- Logotipo autêntico do SchoolSync fornecido pelo usuário e inserido ao lado do resumo.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95cefe95741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bbe748f68a4b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985ec85185943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36aec660f044d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a3195e090a3c47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26afe1b91ee649b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ec28f4b8710f420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4cbbc18d7adc40d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b0630c6d493e491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2fe5d7d9d5014a6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6f8661dbd76541d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ef3ea9ead6924666" /></Relationships>
</file>

<file path=ppt/slideLayouts/slideLayout1.xml><?xml version="1.0" encoding="utf-8"?>
<p:sldLayout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, Content ove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9D4242F-8E86-4A54-8E12-6389903D6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4927D98-900B-4B42-AA01-242533B3B8F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2592288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7A0D10D-5E4A-40DB-B928-12077BE1628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2592288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, 4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EAF6E5D-11BD-4689-9A97-0E2AC6435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472C8B4-29BA-410E-AC83-7C03BFF3054F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DD0A4EF-5412-4C8E-8CAA-D3BCFACBC53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502F3CF-44D4-4CF7-B839-1CB158C1122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22E9A8C-4CBF-461A-9F28-B6276D21629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440B3D5-7989-4E7A-97F8-ECA5B297D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DAFC992-558F-4B2F-8D74-B7FBE080A04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2592288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26C6059-D3AC-4B96-8C4C-CE11A7B65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2CBFC4F-B4B9-4497-802F-F53F4FECA28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2592288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ADB2299-ED53-410C-8B6B-9768C85D6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DA415EE-BE0C-4985-83DA-3931663DFE77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B000356-D083-4028-B152-8529D6240C1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6BCFB6C-1D5B-4B2A-ABF5-8289BA970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>
  <p:cSld name="Centered Tex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>
  <p:cSld name="Title, 2 Content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12D1724-83A0-4B2F-8CDA-D6ABCE6D8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183BA11-6DD9-48A8-93CC-34732D3BD56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AA145A7-062E-49F8-AAA8-F866B3324A2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39D3E80-00F4-4DD7-8BE0-6DF4543F3E0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Title Content and 2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F842B8D-5D78-4E8A-8D4A-DBFAE14A9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312ABD8-868E-4219-B5FB-7AB69EAC4F4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B9AC7E8-299B-4F7D-B3EE-C33E05AF42EA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C1B6C748-0F05-41CF-9391-8CAF72097DC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Title, 2 Content ove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FCF1F5C-3F81-4F6E-A77D-B8BEF878F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93AE7CD-AB96-4798-B706-DBC75AC31C6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6758148-51F7-4C64-9B6C-32E92225C76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768C932-C964-4617-A99D-01E7BA7C4B7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2592288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fd0f4445344614" /><Relationship Type="http://schemas.openxmlformats.org/officeDocument/2006/relationships/slideLayout" Target="/ppt/slideLayouts/slideLayout1.xml" Id="Rf3a2bc7ee0e3408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de2740b62364b0c" /><Relationship Type="http://schemas.openxmlformats.org/officeDocument/2006/relationships/slideLayout" Target="/ppt/slideLayouts/slideLayout2.xml" Id="R38d6ffc2b703497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f8248dc301741e8" /><Relationship Type="http://schemas.openxmlformats.org/officeDocument/2006/relationships/slideLayout" Target="/ppt/slideLayouts/slideLayout3.xml" Id="R20c41bc1ddb24523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76bf6165c9d24cbe" /><Relationship Type="http://schemas.openxmlformats.org/officeDocument/2006/relationships/slideLayout" Target="/ppt/slideLayouts/slideLayout4.xml" Id="R4c15cc9c77ab45a8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33c0d9548f0445d9" /><Relationship Type="http://schemas.openxmlformats.org/officeDocument/2006/relationships/slideLayout" Target="/ppt/slideLayouts/slideLayout5.xml" Id="R9aadbedcf83348d3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88dad72b9a1840ce" /><Relationship Type="http://schemas.openxmlformats.org/officeDocument/2006/relationships/slideLayout" Target="/ppt/slideLayouts/slideLayout6.xml" Id="R55b720c2181e44d2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223c4081ac9b4bcb" /><Relationship Type="http://schemas.openxmlformats.org/officeDocument/2006/relationships/slideLayout" Target="/ppt/slideLayouts/slideLayout7.xml" Id="R8ba4dc05d8ed4d80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c7f972ed575a4146" /><Relationship Type="http://schemas.openxmlformats.org/officeDocument/2006/relationships/slideLayout" Target="/ppt/slideLayouts/slideLayout8.xml" Id="R7444392e83e64673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62259430aa8c4569" /><Relationship Type="http://schemas.openxmlformats.org/officeDocument/2006/relationships/slideLayout" Target="/ppt/slideLayouts/slideLayout9.xml" Id="Rff4155ff8b674517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theme" Target="/ppt/slideMasters/theme/theme11.xml" Id="Rca3cd2b5daa043c4" /><Relationship Type="http://schemas.openxmlformats.org/officeDocument/2006/relationships/slideLayout" Target="/ppt/slideLayouts/slideLayout10.xml" Id="Rcdc8c8e16cba4632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slideMasters/theme/theme12.xml" Id="R168b7cc75e374a25" /><Relationship Type="http://schemas.openxmlformats.org/officeDocument/2006/relationships/slideLayout" Target="/ppt/slideLayouts/slideLayout11.xml" Id="R5a2daf211edb4f51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theme" Target="/ppt/slideMasters/theme/theme13.xml" Id="Rbd8f01a49338426a" /><Relationship Type="http://schemas.openxmlformats.org/officeDocument/2006/relationships/slideLayout" Target="/ppt/slideLayouts/slideLayout12.xml" Id="Re5fb42554a4446e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a2bc7ee0e3408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BEB545F-16AC-4BF9-B295-CDBFFBFA7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5A2253F-D235-4E3A-BF46-FED80D43924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2592252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A74A7EC-74A4-4318-9580-7A1FCDEA10A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2592252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38d6ffc2b703497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1A91880-D35D-4422-AC3B-B6C982EB7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0DDE4CB-91E8-4C3B-80D2-E152E0FCD03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6BE50CE-BBFA-4451-A943-6E39E4AB93F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A272F73-3777-416A-A9BC-8A9D76D4BA0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1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E9A5850-82F2-4BF3-AAC1-3968FB39732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20c41bc1ddb2452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6151056-AD88-4FC2-99B3-1C01383E63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1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7753843-3580-4631-A53E-12BD6410E22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1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A4D4243-B504-4D00-971C-304460B99F1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0204560" y="1010988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1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824CE54-8386-4641-A660-66BEEF1AFC7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8969480" y="1010988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C6866BC-EECC-43B3-8C44-38E5B4B693E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1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1940ABBF-1290-4981-8457-CE23E0E0085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0204560" y="2319840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2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3AEA2AC4-2EBC-4275-AF69-4B6C1A84092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8969480" y="2319840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4c15cc9c77ab45a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433BF6F-AC9B-4307-866B-3B18AB860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2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30CE87E-C200-47CE-A5A4-9019B52A71B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2592288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9aadbedcf83348d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68559AF-EA7B-4846-97ED-FDDBF46A2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2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258BAFE-3764-40B8-AEFE-3641A159F99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2592252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55b720c2181e44d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E88DE8F-399D-48B7-B639-B6D60FF98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74BC1DC-E769-4C46-A9DA-625CF89914A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3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E3F74BF-B6E8-45C4-890E-A7F79D9ADDA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ba4dc05d8ed4d8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E103569-1239-4CDE-9F21-6B0B349704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7444392e83e6467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ff4155ff8b67451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8B3CE77-B1D6-415A-AADE-A9C606880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4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9636AC3-BDAD-4611-B186-850586A099F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4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8A2C116-9194-447A-A49B-F93D9D62204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4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8A49721-F70C-4814-B584-59CBC290E67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cdc8c8e16cba463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EC7B9A0-9D64-4CDC-8E5B-651BE0054F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4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5D17894-E0FB-49AA-A1E1-9D15462FD08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4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5622C7F-CA84-4CA5-9259-B6EC73D2A9C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5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62BEC1D-C68B-4830-BDB7-86BE053FA5D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9" r:id="R5a2daf211edb4f5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C3E66FB-C417-4AC0-AF8B-056DCC936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E1FC779-64F4-494E-8A8D-53711A967A5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28FB8C1-2882-4802-9D8B-B20EA39A3D8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FB2081A-2A6D-4956-A98A-21A52E8364B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2592252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e5fb42554a4446e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0432555fbda4687" /><Relationship Type="http://schemas.openxmlformats.org/officeDocument/2006/relationships/image" Target="/ppt/media/image.jpeg" Id="R05866b2ce1504991" /><Relationship Type="http://schemas.openxmlformats.org/officeDocument/2006/relationships/image" Target="/ppt/media/image2.jpeg" Id="R26aedfaf7a03457b" /><Relationship Type="http://schemas.openxmlformats.org/officeDocument/2006/relationships/image" Target="/ppt/media/image.png" Id="R1a5114d8597c4139" /><Relationship Type="http://schemas.openxmlformats.org/officeDocument/2006/relationships/image" Target="/ppt/media/image2.png" Id="Rf8f97c83bb7c469d" /><Relationship Type="http://schemas.openxmlformats.org/officeDocument/2006/relationships/image" Target="/ppt/media/image3.png" Id="R70e31fbe79fe4d0f" /><Relationship Type="http://schemas.openxmlformats.org/officeDocument/2006/relationships/image" Target="/ppt/media/image3.jpeg" Id="R2567387aa4b14b6a" /><Relationship Type="http://schemas.openxmlformats.org/officeDocument/2006/relationships/notesSlide" Target="/ppt/notesSlides/notesSlide1.xml" Id="R37f3c2304f0b41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CustomShape 1">
            <a:extLst xmlns:a="http://schemas.openxmlformats.org/drawingml/2006/main">
              <a:ext uri="{FF2B5EF4-FFF2-40B4-BE49-F238E27FC236}">
                <a16:creationId xmlns:a16="http://schemas.microsoft.com/office/drawing/2014/main" id="{EC26E008-8F30-4271-A0DF-724E691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60" y="5900040"/>
            <a:ext cx="27143640" cy="143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defRPr sz="7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50" b="1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SCHOOLSYNC: ORGANIZAÇÃO ACADÊMICA COLABORATIVA</a:t>
            </a:r>
            <a:endParaRPr sz="88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CustomShape 2">
            <a:extLst xmlns:a="http://schemas.openxmlformats.org/drawingml/2006/main">
              <a:ext uri="{FF2B5EF4-FFF2-40B4-BE49-F238E27FC236}">
                <a16:creationId xmlns:a16="http://schemas.microsoft.com/office/drawing/2014/main" id="{73E8B79C-82C7-41D2-8C9B-80CF4895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0" y="7649280"/>
            <a:ext cx="28724040" cy="155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Marcos Daniel Vieira Benedito; Victor Hugo Mendes Soares.</a:t>
            </a:r>
            <a:endParaRPr sz="48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Maurílio Alves Martins da Costa (Orientador).</a:t>
            </a:r>
            <a:endParaRPr sz="48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CustomShape 9">
            <a:extLst xmlns:a="http://schemas.openxmlformats.org/drawingml/2006/main">
              <a:ext uri="{FF2B5EF4-FFF2-40B4-BE49-F238E27FC236}">
                <a16:creationId xmlns:a16="http://schemas.microsoft.com/office/drawing/2014/main" id="{8774F673-35C5-468A-9FB9-A1D326ED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19758780"/>
            <a:ext cx="13319280" cy="5795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Centralizar atividades, tarefas e prazos acadêmicos; apoiar a colaboração em salas e grupos; facilitar a divisão de responsabilidades; oferecer calendário com indicadores visuais; enviar notificações; e permitir o acompanhamento de status e pontuações. A proposta busca reduzir esquecimentos, atrasos e dúvidas sobre o que deve ser feito, por quem e até quando.</a:t>
            </a:r>
            <a:endParaRPr sz="32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CustomShape 10">
            <a:extLst xmlns:a="http://schemas.openxmlformats.org/drawingml/2006/main">
              <a:ext uri="{FF2B5EF4-FFF2-40B4-BE49-F238E27FC236}">
                <a16:creationId xmlns:a16="http://schemas.microsoft.com/office/drawing/2014/main" id="{00C9AE94-AEF3-46A9-9490-BF7CBDF5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11447526"/>
            <a:ext cx="9239250" cy="585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 SchoolSync é uma aplicação móvel e web desenvolvida para centralizar a rotina acadêmica. A plataforma reduz a dispersão de informações em agendas, mensagens e ferramentas isoladas ao reunir salas, grupos, atividades, tarefas, comentários, calendário e notificações. Estudantes acompanham prazos, pontuações e responsabilidades em um ambiente colaborativo, enquanto líderes organizam equipes e distribuem tarefas com maior clareza.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CustomShape 11">
            <a:extLst xmlns:a="http://schemas.openxmlformats.org/drawingml/2006/main">
              <a:ext uri="{FF2B5EF4-FFF2-40B4-BE49-F238E27FC236}">
                <a16:creationId xmlns:a16="http://schemas.microsoft.com/office/drawing/2014/main" id="{4D0194BB-4D76-4B49-B9BB-B03859C2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0" y="27763560"/>
            <a:ext cx="13319280" cy="941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 desenvolvimento seguiu uma abordagem incremental, iniciada pelo levantamento de requisitos, pesquisa de referências e modelagem dos casos de uso e dos dados. A interface móvel e web foi implementada com Ionic e Angular, enquanto a API foi construída com Java e Spring Boot e integrada a um banco de dados relacional. Cada incremento passou por compilação, integração entre telas e serviços e testes automatizados dos fluxos críticos. As capturas realizadas no aplicativo Android complementaram a verificação de navegação, calendário, salas e acompanhamento das atividades.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CustomShape 12">
            <a:extLst xmlns:a="http://schemas.openxmlformats.org/drawingml/2006/main">
              <a:ext uri="{FF2B5EF4-FFF2-40B4-BE49-F238E27FC236}">
                <a16:creationId xmlns:a16="http://schemas.microsoft.com/office/drawing/2014/main" id="{CAD2A140-30F9-445D-8F04-60329A59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800" y="21526500"/>
            <a:ext cx="13319284" cy="657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 SchoolSync consolidou os fluxos centrais da gestão acadêmica colaborativa e demonstrou integração funcional entre interface, API e banco de dados. As telas evidenciam que o estudante consegue visualizar prazos no calendário, acessar uma sala, consultar atividades e membros e organizar o trabalho pelo caderno. A compilação web e os testes automatizados do backend confirmaram a estabilidade dos serviços avaliados e a possibilidade de distribuição para web e dispositivos Android.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CustomShape 13">
            <a:extLst xmlns:a="http://schemas.openxmlformats.org/drawingml/2006/main">
              <a:ext uri="{FF2B5EF4-FFF2-40B4-BE49-F238E27FC236}">
                <a16:creationId xmlns:a16="http://schemas.microsoft.com/office/drawing/2014/main" id="{668C452C-47D4-4DF1-928B-0F49A557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8920" y="30635280"/>
            <a:ext cx="13319280" cy="447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3000"/>
              </a:lnSpc>
              <a:buNone/>
              <a:defRPr sz="3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Os resultados mostram potencial para reduzir esquecimentos, atrasos e dúvidas sobre responsabilidades, mantendo tarefas, prazos, pontuações e comunicação em um único ambiente. A organização visual favorece o uso em celulares e permite que o estudante identifique rapidamente as atividades mais urgentes. Como continuidade, recomenda-se ampliar os testes de interface e realizar avaliações de usabilidade com estudantes do CEFET-MG, medindo tempo de cadastro, taxa de conclusão e percepção de organização.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CustomShape 14">
            <a:extLst xmlns:a="http://schemas.openxmlformats.org/drawingml/2006/main">
              <a:ext uri="{FF2B5EF4-FFF2-40B4-BE49-F238E27FC236}">
                <a16:creationId xmlns:a16="http://schemas.microsoft.com/office/drawing/2014/main" id="{6F94E689-687D-411E-8401-4D65C0A1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7464" y="36994338"/>
            <a:ext cx="13319284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ANGULAR. Angular. Disponível em: https://angular.dev. Acesso em: 20 ago.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IONIC. Ionic Framework. Disponível em: https://ionicframework.com. Acesso em: 20 ago.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SCHOOLSYNC. Documentação do software SchoolSync. Timóteo: CEFET-MG,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SPRING. Spring Boot. Disponível em: https://spring.io/projects/spring-boot. Acesso em: 20 ago.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CustomShape 9">
            <a:extLst xmlns:a="http://schemas.openxmlformats.org/drawingml/2006/main">
              <a:ext uri="{FF2B5EF4-FFF2-40B4-BE49-F238E27FC236}">
                <a16:creationId xmlns:a16="http://schemas.microsoft.com/office/drawing/2014/main" id="{9E3E1754-4C17-4831-B044-C99DC0E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8" y="37833300"/>
            <a:ext cx="13319284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Em 20/08/2026, a versão analisada reuniu 21 páginas de interface e 47 operações de API distribuídas em seis controladores. A compilação web foi concluída e os seis testes automatizados da API passaram sem falhas, erros ou testes ignorados. As telas demonstram o calendário de prazos, a organização de salas e equipes e o acompanhamento de atividades pelo caderno.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95F04C97-F596-486E-BA7E-4562A12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" y="4551120"/>
            <a:ext cx="28800552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 spc="-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Código: 0000C1   Área: Ciências Exatas e da Terra   Modalidade: Ciência Aplicada/Inovação Tecnológica</a:t>
            </a:r>
            <a:endParaRPr sz="4400" spc="-1">
              <a:solidFill>
                <a:srgbClr val="000000"/>
              </a:solidFill>
            </a:endParaRPr>
          </a:p>
        </p:txBody>
      </p:sp>
      <p:sp>
        <p:nvSpPr>
          <p:cNvPr id="25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3A9C3A1D-75CF-4061-A7ED-139F27DC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995847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  <a:latin typeface="Arial"/>
                <a:ea typeface="Arial"/>
                <a:cs typeface="Arial"/>
              </a:rPr>
              <a:t>RESUMO</a:t>
            </a:r>
          </a:p>
        </p:txBody>
      </p:sp>
      <p:sp>
        <p:nvSpPr>
          <p:cNvPr id="2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37CEA9B3-F0E5-47F8-B29B-2A58885F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1824687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27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609189F8-C6AA-47C8-BAD8-72611801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800" y="20335875"/>
            <a:ext cx="13320046" cy="900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  <a:latin typeface="Arial"/>
                <a:ea typeface="Arial"/>
                <a:cs typeface="Arial"/>
              </a:rPr>
              <a:t>CONCLUSÕES</a:t>
            </a:r>
          </a:p>
        </p:txBody>
      </p:sp>
      <p:sp>
        <p:nvSpPr>
          <p:cNvPr id="28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4BE51E59-3F3A-4427-AD96-A769BD7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00" y="26011545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METODOLOGIA</a:t>
            </a:r>
            <a:endParaRPr sz="5400" b="1" spc="-1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6335BAB8-DCA9-492B-8809-5B0AB64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120" y="2898644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CONSIDERAÇÕES FINAIS</a:t>
            </a:r>
            <a:endParaRPr sz="5400" spc="-1">
              <a:solidFill>
                <a:srgbClr val="000000"/>
              </a:solidFill>
            </a:endParaRPr>
          </a:p>
        </p:txBody>
      </p:sp>
      <p:sp>
        <p:nvSpPr>
          <p:cNvPr id="30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61E8DB8F-733A-4AD1-A82B-0B27A207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120" y="3511404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REFERÊNCIAS</a:t>
            </a:r>
            <a:endParaRPr sz="5400" spc="-1">
              <a:solidFill>
                <a:srgbClr val="000000"/>
              </a:solidFill>
            </a:endParaRPr>
          </a:p>
        </p:txBody>
      </p:sp>
      <p:sp>
        <p:nvSpPr>
          <p:cNvPr id="31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1BE006E6-14DE-43E7-8837-7CC4A407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00" y="36497565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DADOS OBTIDOS E RESULTADOS</a:t>
            </a:r>
            <a:endParaRPr sz="5400" spc="-1">
              <a:solidFill>
                <a:srgbClr val="000000"/>
              </a:solidFill>
            </a:endParaRPr>
          </a:p>
        </p:txBody>
      </p:sp>
      <p:pic>
        <p:nvPicPr>
          <p:cNvPr id="111" name="Image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66b2ce1504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50" y="42573"/>
            <a:ext cx="28803600" cy="4319473"/>
          </a:xfrm>
          <a:prstGeom xmlns:a="http://schemas.openxmlformats.org/drawingml/2006/main" prst="rect">
            <a:avLst/>
          </a:prstGeom>
        </p:spPr>
      </p:pic>
      <p:pic>
        <p:nvPicPr>
          <p:cNvPr id="112" name="Imagem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edfaf7a0345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6632" y="41819527"/>
            <a:ext cx="28803600" cy="1371745"/>
          </a:xfrm>
          <a:prstGeom xmlns:a="http://schemas.openxmlformats.org/drawingml/2006/main" prst="rect">
            <a:avLst/>
          </a:prstGeom>
        </p:spPr>
      </p:pic>
      <p:sp>
        <p:nvSpPr>
          <p:cNvPr id="81" name="Interface e funcionalidades">
            <a:extLst xmlns:a="http://schemas.openxmlformats.org/drawingml/2006/main">
              <a:ext uri="{FF2B5EF4-FFF2-40B4-BE49-F238E27FC236}">
                <a16:creationId xmlns:a16="http://schemas.microsoft.com/office/drawing/2014/main" id="{1727185D-C589-4BDC-AB20-BC2E109D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800" y="9958483"/>
            <a:ext cx="13320046" cy="900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INTERFACE E FUNCIONALIDADES</a:t>
            </a:r>
          </a:p>
        </p:txBody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114d8597c4139"/>
          <a:stretch xmlns:a="http://schemas.openxmlformats.org/drawingml/2006/main"/>
        </p:blipFill>
        <p:spPr>
          <a:xfrm xmlns:a="http://schemas.openxmlformats.org/drawingml/2006/main">
            <a:off x="15926514" y="11191875"/>
            <a:ext cx="3141821" cy="698182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3" name="Legenda - Calendário e prazos">
            <a:extLst xmlns:a="http://schemas.openxmlformats.org/drawingml/2006/main">
              <a:ext uri="{FF2B5EF4-FFF2-40B4-BE49-F238E27FC236}">
                <a16:creationId xmlns:a16="http://schemas.microsoft.com/office/drawing/2014/main" id="{D807BB0F-0B21-493F-A713-33FCA578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183832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5446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4468C"/>
                </a:solidFill>
                <a:latin typeface="Arial"/>
                <a:ea typeface="Arial"/>
                <a:cs typeface="Arial"/>
              </a:rPr>
              <a:t>Calendário e prazos</a:t>
            </a:r>
          </a:p>
        </p:txBody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97c83bb7c469d"/>
          <a:stretch xmlns:a="http://schemas.openxmlformats.org/drawingml/2006/main"/>
        </p:blipFill>
        <p:spPr>
          <a:xfrm xmlns:a="http://schemas.openxmlformats.org/drawingml/2006/main">
            <a:off x="19869864" y="11191875"/>
            <a:ext cx="3141821" cy="698182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5" name="Legenda - Sala, atividade e equipe">
            <a:extLst xmlns:a="http://schemas.openxmlformats.org/drawingml/2006/main">
              <a:ext uri="{FF2B5EF4-FFF2-40B4-BE49-F238E27FC236}">
                <a16:creationId xmlns:a16="http://schemas.microsoft.com/office/drawing/2014/main" id="{AB9B7359-FCEF-48D2-B17E-8BCF3FA6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3400" y="183832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5446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4468C"/>
                </a:solidFill>
                <a:latin typeface="Arial"/>
                <a:ea typeface="Arial"/>
                <a:cs typeface="Arial"/>
              </a:rPr>
              <a:t>Sala, atividade e equipe</a:t>
            </a:r>
          </a:p>
        </p:txBody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31fbe79fe4d0f"/>
          <a:stretch xmlns:a="http://schemas.openxmlformats.org/drawingml/2006/main"/>
        </p:blipFill>
        <p:spPr>
          <a:xfrm xmlns:a="http://schemas.openxmlformats.org/drawingml/2006/main">
            <a:off x="23813214" y="11191875"/>
            <a:ext cx="3141821" cy="698182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7" name="Legenda - Caderno de atividades">
            <a:extLst xmlns:a="http://schemas.openxmlformats.org/drawingml/2006/main">
              <a:ext uri="{FF2B5EF4-FFF2-40B4-BE49-F238E27FC236}">
                <a16:creationId xmlns:a16="http://schemas.microsoft.com/office/drawing/2014/main" id="{82F9FC84-D4B2-428C-9FA4-C49EF166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0" y="183832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5446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4468C"/>
                </a:solidFill>
                <a:latin typeface="Arial"/>
                <a:ea typeface="Arial"/>
                <a:cs typeface="Arial"/>
              </a:rPr>
              <a:t>Caderno de atividades</a:t>
            </a:r>
          </a:p>
        </p:txBody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7387aa4b14b6a"/>
          <a:stretch xmlns:a="http://schemas.openxmlformats.org/drawingml/2006/main"/>
        </p:blipFill>
        <p:spPr>
          <a:xfrm xmlns:a="http://schemas.openxmlformats.org/drawingml/2006/main">
            <a:off x="10096500" y="11669857"/>
            <a:ext cx="3619500" cy="46066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877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2026-08-26T01:34:38.6640000Z</dcterms:created>
  <dcterms:modified xsi:type="dcterms:W3CDTF">2026-08-26T01:34:38.6640000Z</dcterms:modified>
</coreProperties>
</file>