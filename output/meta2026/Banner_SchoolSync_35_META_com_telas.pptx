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cc48c6c908465c" /><Relationship Type="http://schemas.openxmlformats.org/officeDocument/2006/relationships/extended-properties" Target="/docProps/app.xml" Id="Rf1ae16fecdea4dbf" /><Relationship Type="http://schemas.openxmlformats.org/officeDocument/2006/relationships/officeDocument" Target="/ppt/presentation.xml" Id="R2052936bc1bc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5fd2e36f954e52"/>
    <p:sldMasterId xmlns:r="http://schemas.openxmlformats.org/officeDocument/2006/relationships" id="2147483650" r:id="R591ee844c7ba47f6"/>
    <p:sldMasterId xmlns:r="http://schemas.openxmlformats.org/officeDocument/2006/relationships" id="2147483652" r:id="R11845cfd97124a9e"/>
    <p:sldMasterId xmlns:r="http://schemas.openxmlformats.org/officeDocument/2006/relationships" id="2147483654" r:id="R94d81c2beb4e4d9a"/>
    <p:sldMasterId xmlns:r="http://schemas.openxmlformats.org/officeDocument/2006/relationships" id="2147483656" r:id="R6025c377e9a14c76"/>
    <p:sldMasterId xmlns:r="http://schemas.openxmlformats.org/officeDocument/2006/relationships" id="2147483658" r:id="Rf8c30826b5464ab3"/>
    <p:sldMasterId xmlns:r="http://schemas.openxmlformats.org/officeDocument/2006/relationships" id="2147483660" r:id="R1890915157104365"/>
    <p:sldMasterId xmlns:r="http://schemas.openxmlformats.org/officeDocument/2006/relationships" id="2147483662" r:id="Rd8b76693c1ac4d99"/>
    <p:sldMasterId xmlns:r="http://schemas.openxmlformats.org/officeDocument/2006/relationships" id="2147483664" r:id="R5982caaa0021426b"/>
    <p:sldMasterId xmlns:r="http://schemas.openxmlformats.org/officeDocument/2006/relationships" id="2147483666" r:id="Re9e55e542d6a4007"/>
    <p:sldMasterId xmlns:r="http://schemas.openxmlformats.org/officeDocument/2006/relationships" id="2147483668" r:id="R8c2fcedd05a44e9b"/>
    <p:sldMasterId xmlns:r="http://schemas.openxmlformats.org/officeDocument/2006/relationships" id="2147483670" r:id="R6491d9a124334037"/>
  </p:sldMasterIdLst>
  <p:notesMasterIdLst>
    <p:notesMasterId xmlns:r="http://schemas.openxmlformats.org/officeDocument/2006/relationships" r:id="R1324649344c54f00"/>
  </p:notesMasterIdLst>
  <p:sldIdLst>
    <p:sldId xmlns:r="http://schemas.openxmlformats.org/officeDocument/2006/relationships" id="256" r:id="R0170069dc50645fa"/>
  </p:sldIdLst>
  <p:sldSz cx="28803600" cy="43205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7b79af6c834773" /><Relationship Type="http://schemas.openxmlformats.org/officeDocument/2006/relationships/slideMaster" Target="/ppt/slideMasters/slideMaster1.xml" Id="R9d5fd2e36f954e52" /><Relationship Type="http://schemas.openxmlformats.org/officeDocument/2006/relationships/slideMaster" Target="/ppt/slideMasters/slideMaster2.xml" Id="R591ee844c7ba47f6" /><Relationship Type="http://schemas.openxmlformats.org/officeDocument/2006/relationships/slideMaster" Target="/ppt/slideMasters/slideMaster3.xml" Id="R11845cfd97124a9e" /><Relationship Type="http://schemas.openxmlformats.org/officeDocument/2006/relationships/slideMaster" Target="/ppt/slideMasters/slideMaster4.xml" Id="R94d81c2beb4e4d9a" /><Relationship Type="http://schemas.openxmlformats.org/officeDocument/2006/relationships/slideMaster" Target="/ppt/slideMasters/slideMaster5.xml" Id="R6025c377e9a14c76" /><Relationship Type="http://schemas.openxmlformats.org/officeDocument/2006/relationships/slideMaster" Target="/ppt/slideMasters/slideMaster6.xml" Id="Rf8c30826b5464ab3" /><Relationship Type="http://schemas.openxmlformats.org/officeDocument/2006/relationships/slideMaster" Target="/ppt/slideMasters/slideMaster7.xml" Id="R1890915157104365" /><Relationship Type="http://schemas.openxmlformats.org/officeDocument/2006/relationships/slideMaster" Target="/ppt/slideMasters/slideMaster8.xml" Id="Rd8b76693c1ac4d99" /><Relationship Type="http://schemas.openxmlformats.org/officeDocument/2006/relationships/slideMaster" Target="/ppt/slideMasters/slideMaster9.xml" Id="R5982caaa0021426b" /><Relationship Type="http://schemas.openxmlformats.org/officeDocument/2006/relationships/slideMaster" Target="/ppt/slideMasters/slideMaster10.xml" Id="Re9e55e542d6a4007" /><Relationship Type="http://schemas.openxmlformats.org/officeDocument/2006/relationships/slideMaster" Target="/ppt/slideMasters/slideMaster11.xml" Id="R8c2fcedd05a44e9b" /><Relationship Type="http://schemas.openxmlformats.org/officeDocument/2006/relationships/slideMaster" Target="/ppt/slideMasters/slideMaster12.xml" Id="R6491d9a124334037" /><Relationship Type="http://schemas.openxmlformats.org/officeDocument/2006/relationships/notesMaster" Target="/ppt/notesMasters/notesMaster1.xml" Id="R1324649344c54f00" /><Relationship Type="http://schemas.openxmlformats.org/officeDocument/2006/relationships/presProps" Target="/ppt/presProps.xml" Id="R9ffffc2b8d764581" /><Relationship Type="http://schemas.openxmlformats.org/officeDocument/2006/relationships/viewProps" Target="/ppt/viewProps.xml" Id="R690d0a5f34504c9b" /><Relationship Type="http://schemas.openxmlformats.org/officeDocument/2006/relationships/tableStyles" Target="/ppt/tableStyles.xml" Id="Rfac048e0f34a467a" /><Relationship Type="http://schemas.openxmlformats.org/officeDocument/2006/relationships/slide" Target="/ppt/slides/slide1.xml" Id="R0170069dc50645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4.xml" Id="Rbee1e52d8d3446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64465ff991475d" /><Relationship Type="http://schemas.openxmlformats.org/officeDocument/2006/relationships/notesMaster" Target="/ppt/notesMasters/notesMaster1.xml" Id="Rcbba1f9bfac5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Comissão Coordenadora da 35ª META. Template e orientações para elaboração do banner, 2026.</a:t>
            </a:r>
          </a:p>
          <a:p xmlns:a="http://schemas.openxmlformats.org/drawingml/2006/main">
            <a:r>
              <a:t>- CEFET-MG. Edital da 35ª META e retificação, 2026.</a:t>
            </a:r>
          </a:p>
          <a:p xmlns:a="http://schemas.openxmlformats.org/drawingml/2006/main">
            <a:r>
              <a:t>- SCHOOLSYNC. Documentação do software SchoolSync. Timóteo: CEFET-MG, 2026.</a:t>
            </a:r>
          </a:p>
          <a:p xmlns:a="http://schemas.openxmlformats.org/drawingml/2006/main">
            <a:r>
              <a:t>- Capturas autênticas do aplicativo SchoolSync fornecidas pelo usuário em 25/08/2026: início/calendário, sala/atividade/membros e caderno.</a:t>
            </a:r>
          </a:p>
          <a:p xmlns:a="http://schemas.openxmlformats.org/drawingml/2006/main">
            <a:r>
              <a:t>- Angular: https://angular.dev</a:t>
            </a:r>
          </a:p>
          <a:p xmlns:a="http://schemas.openxmlformats.org/drawingml/2006/main">
            <a:r>
              <a:t>- Ionic Framework: https://ionicframework.com</a:t>
            </a:r>
          </a:p>
          <a:p xmlns:a="http://schemas.openxmlformats.org/drawingml/2006/main">
            <a:r>
              <a:t>- Spring Boot: https://spring.io/projects/spring-boot</a:t>
            </a:r>
          </a:p>
          <a:p xmlns:a="http://schemas.openxmlformats.org/drawingml/2006/main">
            <a:r>
              <a:t>- Verificação local em 20/08/2026: build do frontend e 6 testes automatizados da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194dd26344c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0aac9ea12b48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ac8073496748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e7b0cc8220b49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d3b5c32f7a614d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05a8bb981d624ab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2f307ce46ad4a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57e1cdb07aa141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962fe9601a574e5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d3ab029d4f2045c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948d9ae9c7ad439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12b897e876d842f3" /></Relationships>
</file>

<file path=ppt/slideLayouts/slideLayout1.xml><?xml version="1.0" encoding="utf-8"?>
<p:sldLayout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9D4242F-8E86-4A54-8E12-6389903D6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927D98-900B-4B42-AA01-242533B3B8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7A0D10D-5E4A-40DB-B928-12077BE1628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EAF6E5D-11BD-4689-9A97-0E2AC6435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72C8B4-29BA-410E-AC83-7C03BFF3054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DD0A4EF-5412-4C8E-8CAA-D3BCFACBC5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502F3CF-44D4-4CF7-B839-1CB158C1122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22E9A8C-4CBF-461A-9F28-B6276D21629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440B3D5-7989-4E7A-97F8-ECA5B297D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FC992-558F-4B2F-8D74-B7FBE080A04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26C6059-D3AC-4B96-8C4C-CE11A7B65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2CBFC4F-B4B9-4497-802F-F53F4FECA28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ADB2299-ED53-410C-8B6B-9768C85D6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415EE-BE0C-4985-83DA-3931663DFE7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B000356-D083-4028-B152-8529D6240C1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6BCFB6C-1D5B-4B2A-ABF5-8289BA970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12D1724-83A0-4B2F-8CDA-D6ABCE6D8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83BA11-6DD9-48A8-93CC-34732D3BD56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AA145A7-062E-49F8-AAA8-F866B3324A2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39D3E80-00F4-4DD7-8BE0-6DF4543F3E0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842B8D-5D78-4E8A-8D4A-DBFAE14A9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12ABD8-868E-4219-B5FB-7AB69EAC4F4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B9AC7E8-299B-4F7D-B3EE-C33E05AF42E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1B6C748-0F05-41CF-9391-8CAF72097DC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FCF1F5C-3F81-4F6E-A77D-B8BEF878F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93AE7CD-AB96-4798-B706-DBC75AC31C6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758148-51F7-4C64-9B6C-32E92225C76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768C932-C964-4617-A99D-01E7BA7C4B7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bfb8a2d5724523" /><Relationship Type="http://schemas.openxmlformats.org/officeDocument/2006/relationships/slideLayout" Target="/ppt/slideLayouts/slideLayout1.xml" Id="R1c8936b8bf2647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db279034ea246ac" /><Relationship Type="http://schemas.openxmlformats.org/officeDocument/2006/relationships/slideLayout" Target="/ppt/slideLayouts/slideLayout2.xml" Id="R2ecf7307330d4b0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643cf777a074859" /><Relationship Type="http://schemas.openxmlformats.org/officeDocument/2006/relationships/slideLayout" Target="/ppt/slideLayouts/slideLayout3.xml" Id="R1305685508f34eb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c17fa7bfab4f4c92" /><Relationship Type="http://schemas.openxmlformats.org/officeDocument/2006/relationships/slideLayout" Target="/ppt/slideLayouts/slideLayout4.xml" Id="R60acad702c9a494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5318d430e6bc4cb1" /><Relationship Type="http://schemas.openxmlformats.org/officeDocument/2006/relationships/slideLayout" Target="/ppt/slideLayouts/slideLayout5.xml" Id="Rdea15e14d95b4d66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5ea35621fdcf4709" /><Relationship Type="http://schemas.openxmlformats.org/officeDocument/2006/relationships/slideLayout" Target="/ppt/slideLayouts/slideLayout6.xml" Id="Rebb4569a5c254af9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896c6437b0dc4338" /><Relationship Type="http://schemas.openxmlformats.org/officeDocument/2006/relationships/slideLayout" Target="/ppt/slideLayouts/slideLayout7.xml" Id="R4e57f9ebf8764aaf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b195a98058fc49f6" /><Relationship Type="http://schemas.openxmlformats.org/officeDocument/2006/relationships/slideLayout" Target="/ppt/slideLayouts/slideLayout8.xml" Id="Rc897b25a0fac4bb0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f806d38e99404085" /><Relationship Type="http://schemas.openxmlformats.org/officeDocument/2006/relationships/slideLayout" Target="/ppt/slideLayouts/slideLayout9.xml" Id="R141e2064d24941d8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d76b78850ecb46ca" /><Relationship Type="http://schemas.openxmlformats.org/officeDocument/2006/relationships/slideLayout" Target="/ppt/slideLayouts/slideLayout10.xml" Id="R2edba6ff701740cd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c43c4b26b3134d21" /><Relationship Type="http://schemas.openxmlformats.org/officeDocument/2006/relationships/slideLayout" Target="/ppt/slideLayouts/slideLayout11.xml" Id="Rdcad57ad4c324d6c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9f0187acd45c49b1" /><Relationship Type="http://schemas.openxmlformats.org/officeDocument/2006/relationships/slideLayout" Target="/ppt/slideLayouts/slideLayout12.xml" Id="R950c585ce3f5414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936b8bf2647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BEB545F-16AC-4BF9-B295-CDBFFBFA7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5A2253F-D235-4E3A-BF46-FED80D43924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A74A7EC-74A4-4318-9580-7A1FCDEA10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ecf7307330d4b0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A91880-D35D-4422-AC3B-B6C982EB7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0DDE4CB-91E8-4C3B-80D2-E152E0FCD03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6BE50CE-BBFA-4451-A943-6E39E4AB93F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272F73-3777-416A-A9BC-8A9D76D4BA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E9A5850-82F2-4BF3-AAC1-3968FB39732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1305685508f34eb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6151056-AD88-4FC2-99B3-1C01383E6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753843-3580-4631-A53E-12BD6410E2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A4D4243-B504-4D00-971C-304460B99F1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24CE54-8386-4641-A660-66BEEF1AFC7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C6866BC-EECC-43B3-8C44-38E5B4B693E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940ABBF-1290-4981-8457-CE23E0E0085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3AEA2AC4-2EBC-4275-AF69-4B6C1A84092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60acad702c9a494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33BF6F-AC9B-4307-866B-3B18AB860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30CE87E-C200-47CE-A5A4-9019B52A71B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dea15e14d95b4d6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8559AF-EA7B-4846-97ED-FDDBF46A2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258BAFE-3764-40B8-AEFE-3641A159F99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ebb4569a5c254af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88DE8F-399D-48B7-B639-B6D60FF98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74BC1DC-E769-4C46-A9DA-625CF89914A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E3F74BF-B6E8-45C4-890E-A7F79D9ADD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e57f9ebf8764aa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E103569-1239-4CDE-9F21-6B0B34970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c897b25a0fac4b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141e2064d24941d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B3CE77-B1D6-415A-AADE-A9C606880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9636AC3-BDAD-4611-B186-850586A099F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8A2C116-9194-447A-A49B-F93D9D6220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9721-F70C-4814-B584-59CBC290E6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2edba6ff701740c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EC7B9A0-9D64-4CDC-8E5B-651BE0054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D17894-E0FB-49AA-A1E1-9D15462FD08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5622C7F-CA84-4CA5-9259-B6EC73D2A9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62BEC1D-C68B-4830-BDB7-86BE053FA5D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dcad57ad4c324d6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C3E66FB-C417-4AC0-AF8B-056DCC936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E1FC779-64F4-494E-8A8D-53711A967A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28FB8C1-2882-4802-9D8B-B20EA39A3D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FB2081A-2A6D-4956-A98A-21A52E8364B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950c585ce3f5414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910d3915744bbd" /><Relationship Type="http://schemas.openxmlformats.org/officeDocument/2006/relationships/image" Target="/ppt/media/image.jpeg" Id="R9cfa0335854e4039" /><Relationship Type="http://schemas.openxmlformats.org/officeDocument/2006/relationships/image" Target="/ppt/media/image2.jpeg" Id="R3829862027ac4650" /><Relationship Type="http://schemas.openxmlformats.org/officeDocument/2006/relationships/image" Target="/ppt/media/image.png" Id="R6d9b6c3a2fd548b8" /><Relationship Type="http://schemas.openxmlformats.org/officeDocument/2006/relationships/image" Target="/ppt/media/image2.png" Id="R2646c139311c4c7e" /><Relationship Type="http://schemas.openxmlformats.org/officeDocument/2006/relationships/image" Target="/ppt/media/image3.png" Id="Rc4c65b84316e4792" /><Relationship Type="http://schemas.openxmlformats.org/officeDocument/2006/relationships/notesSlide" Target="/ppt/notesSlides/notesSlide1.xml" Id="R2803737d6be744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EC26E008-8F30-4271-A0DF-724E691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0" y="5900040"/>
            <a:ext cx="27143640" cy="143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7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50" b="1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SCHOOLSYNC: ORGANIZAÇÃO ACADÊMICA COLABORATIVA</a:t>
            </a:r>
            <a:endParaRPr sz="8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CustomShape 2">
            <a:extLst xmlns:a="http://schemas.openxmlformats.org/drawingml/2006/main">
              <a:ext uri="{FF2B5EF4-FFF2-40B4-BE49-F238E27FC236}">
                <a16:creationId xmlns:a16="http://schemas.microsoft.com/office/drawing/2014/main" id="{73E8B79C-82C7-41D2-8C9B-80CF4895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" y="7649280"/>
            <a:ext cx="28724040" cy="155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Marcos Daniel Vieira Benedito; Victor Hugo Mendes Soares.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Maurílio Alves Martins da Costa (Orientador).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8774F673-35C5-468A-9FB9-A1D326E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9758780"/>
            <a:ext cx="13319280" cy="5795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Centralizar atividades, tarefas e prazos acadêmicos; apoiar a colaboração em salas e grupos; facilitar a divisão de responsabilidades; oferecer calendário com indicadores visuais; enviar notificações; e permitir o acompanhamento de status e pontuações. A proposta busca reduzir esquecimentos, atrasos e dúvidas sobre o que deve ser feito, por quem e até quando.</a:t>
            </a:r>
            <a:endParaRPr sz="32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CustomShape 10">
            <a:extLst xmlns:a="http://schemas.openxmlformats.org/drawingml/2006/main">
              <a:ext uri="{FF2B5EF4-FFF2-40B4-BE49-F238E27FC236}">
                <a16:creationId xmlns:a16="http://schemas.microsoft.com/office/drawing/2014/main" id="{00C9AE94-AEF3-46A9-9490-BF7CBDF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20" y="11447520"/>
            <a:ext cx="13348800" cy="585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é uma aplicação móvel e web desenvolvida para centralizar a rotina acadêmica. A plataforma reduz a dispersão de informações em agendas, mensagens e ferramentas isoladas ao reunir salas, grupos, atividades, tarefas, comentários, calendário e notificações. Estudantes acompanham prazos, pontuações e responsabilidades em um ambiente colaborativo, enquanto líderes organizam equipes e distribuem tarefas com maior clareza.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CustomShape 11">
            <a:extLst xmlns:a="http://schemas.openxmlformats.org/drawingml/2006/main">
              <a:ext uri="{FF2B5EF4-FFF2-40B4-BE49-F238E27FC236}">
                <a16:creationId xmlns:a16="http://schemas.microsoft.com/office/drawing/2014/main" id="{4D0194BB-4D76-4B49-B9BB-B03859C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0" y="27763560"/>
            <a:ext cx="13319280" cy="941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desenvolvimento seguiu uma abordagem incremental, iniciada pelo levantamento de requisitos, pesquisa de referências e modelagem dos casos de uso e dos dados. A interface móvel e web foi implementada com Ionic e Angular, enquanto a API foi construída com Java e Spring Boot e integrada a um banco de dados relacional. Cada incremento passou por compilação, integração entre telas e serviços e testes automatizados dos fluxos críticos. As capturas realizadas no aplicativo Android complementaram a verificação de navegação, calendário, salas e acompanhamento das atividades.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CustomShape 12">
            <a:extLst xmlns:a="http://schemas.openxmlformats.org/drawingml/2006/main">
              <a:ext uri="{FF2B5EF4-FFF2-40B4-BE49-F238E27FC236}">
                <a16:creationId xmlns:a16="http://schemas.microsoft.com/office/drawing/2014/main" id="{CAD2A140-30F9-445D-8F04-60329A5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21526500"/>
            <a:ext cx="13319284" cy="65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consolidou os fluxos centrais da gestão acadêmica colaborativa e demonstrou integração funcional entre interface, API e banco de dados. As telas evidenciam que o estudante consegue visualizar prazos no calendário, acessar uma sala, consultar atividades e membros e organizar o trabalho pelo caderno. A compilação web e os testes automatizados do backend confirmaram a estabilidade dos serviços avaliados e a possibilidade de distribuição para web e dispositivos Android.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CustomShape 13">
            <a:extLst xmlns:a="http://schemas.openxmlformats.org/drawingml/2006/main">
              <a:ext uri="{FF2B5EF4-FFF2-40B4-BE49-F238E27FC236}">
                <a16:creationId xmlns:a16="http://schemas.microsoft.com/office/drawing/2014/main" id="{668C452C-47D4-4DF1-928B-0F49A55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8920" y="30635280"/>
            <a:ext cx="13319280" cy="447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3000"/>
              </a:lnSpc>
              <a:buNone/>
              <a:defRPr sz="3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resultados mostram potencial para reduzir esquecimentos, atrasos e dúvidas sobre responsabilidades, mantendo tarefas, prazos, pontuações e comunicação em um único ambiente. A organização visual favorece o uso em celulares e permite que o estudante identifique rapidamente as atividades mais urgentes. Como continuidade, recomenda-se ampliar os testes de interface e realizar avaliações de usabilidade com estudantes do CEFET-MG, medindo tempo de cadastro, taxa de conclusão e percepção de organização.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CustomShape 14">
            <a:extLst xmlns:a="http://schemas.openxmlformats.org/drawingml/2006/main">
              <a:ext uri="{FF2B5EF4-FFF2-40B4-BE49-F238E27FC236}">
                <a16:creationId xmlns:a16="http://schemas.microsoft.com/office/drawing/2014/main" id="{6F94E689-687D-411E-8401-4D65C0A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64" y="36994338"/>
            <a:ext cx="13319284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ANGULAR. Angular. Disponível em: https://angular.dev.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IONIC. Ionic Framework. Disponível em: https://ionicframework.com.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SCHOOLSYNC. Documentação do software SchoolSync. Timóteo: CEFET-MG,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SPRING. Spring Boot. Disponível em: https://spring.io/projects/spring-boot.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9E3E1754-4C17-4831-B044-C99DC0E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8" y="37833300"/>
            <a:ext cx="13319284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Em 20/08/2026, a versão analisada reuniu 21 páginas de interface e 47 operações de API distribuídas em seis controladores. A compilação web foi concluída e os seis testes automatizados da API passaram sem falhas, erros ou testes ignorados. As telas demonstram o calendário de prazos, a organização de salas e equipes e o acompanhamento de atividades pelo caderno.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95F04C97-F596-486E-BA7E-4562A12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" y="4551120"/>
            <a:ext cx="28800552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0000C1   Área: Ciências Exatas e da Terra   Modalidade: Ciência Aplicada/Inovação Tecnológica</a:t>
            </a:r>
            <a:endParaRPr sz="4400" spc="-1">
              <a:solidFill>
                <a:srgbClr val="000000"/>
              </a:solidFill>
            </a:endParaRPr>
          </a:p>
        </p:txBody>
      </p:sp>
      <p:sp>
        <p:nvSpPr>
          <p:cNvPr id="25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A9C3A1D-75CF-4061-A7ED-139F27D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99584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RESUMO</a:t>
            </a:r>
          </a:p>
        </p:txBody>
      </p:sp>
      <p:sp>
        <p:nvSpPr>
          <p:cNvPr id="2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7CEA9B3-F0E5-47F8-B29B-2A58885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82468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27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09189F8-C6AA-47C8-BAD8-7261180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20335875"/>
            <a:ext cx="13320046" cy="900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CONCLUSÕES</a:t>
            </a:r>
          </a:p>
        </p:txBody>
      </p:sp>
      <p:sp>
        <p:nvSpPr>
          <p:cNvPr id="28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4BE51E59-3F3A-4427-AD96-A769BD7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2601154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METODOLOGIA</a:t>
            </a:r>
            <a:endParaRPr sz="5400" b="1" spc="-1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335BAB8-DCA9-492B-8809-5B0AB64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289864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CONSIDERAÇÕES FINAIS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0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1E8DB8F-733A-4AD1-A82B-0B27A20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351140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REFERÊNCIAS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1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1BE006E6-14DE-43E7-8837-7CC4A407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3649756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DADOS OBTIDOS E RESULTADOS</a:t>
            </a:r>
            <a:endParaRPr sz="5400" spc="-1">
              <a:solidFill>
                <a:srgbClr val="000000"/>
              </a:solidFill>
            </a:endParaRPr>
          </a:p>
        </p:txBody>
      </p:sp>
      <p:pic>
        <p:nvPicPr>
          <p:cNvPr id="105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a0335854e4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50" y="42573"/>
            <a:ext cx="28803600" cy="4319473"/>
          </a:xfrm>
          <a:prstGeom xmlns:a="http://schemas.openxmlformats.org/drawingml/2006/main" prst="rect">
            <a:avLst/>
          </a:prstGeom>
        </p:spPr>
      </p:pic>
      <p:pic>
        <p:nvPicPr>
          <p:cNvPr id="106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9862027ac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6632" y="41819527"/>
            <a:ext cx="28803600" cy="1371745"/>
          </a:xfrm>
          <a:prstGeom xmlns:a="http://schemas.openxmlformats.org/drawingml/2006/main" prst="rect">
            <a:avLst/>
          </a:prstGeom>
        </p:spPr>
      </p:pic>
      <p:sp>
        <p:nvSpPr>
          <p:cNvPr id="81" name="Interface e funcionalidades">
            <a:extLst xmlns:a="http://schemas.openxmlformats.org/drawingml/2006/main">
              <a:ext uri="{FF2B5EF4-FFF2-40B4-BE49-F238E27FC236}">
                <a16:creationId xmlns:a16="http://schemas.microsoft.com/office/drawing/2014/main" id="{1727185D-C589-4BDC-AB20-BC2E109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9958483"/>
            <a:ext cx="13320046" cy="900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INTERFACE E FUNCIONALIDADES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b6c3a2fd548b8"/>
          <a:stretch xmlns:a="http://schemas.openxmlformats.org/drawingml/2006/main"/>
        </p:blipFill>
        <p:spPr>
          <a:xfrm xmlns:a="http://schemas.openxmlformats.org/drawingml/2006/main">
            <a:off x="1592651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3" name="Legenda - Calendário e prazos">
            <a:extLst xmlns:a="http://schemas.openxmlformats.org/drawingml/2006/main">
              <a:ext uri="{FF2B5EF4-FFF2-40B4-BE49-F238E27FC236}">
                <a16:creationId xmlns:a16="http://schemas.microsoft.com/office/drawing/2014/main" id="{D807BB0F-0B21-493F-A713-33FCA578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Calendário e prazos</a:t>
            </a:r>
          </a:p>
        </p:txBody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6c139311c4c7e"/>
          <a:stretch xmlns:a="http://schemas.openxmlformats.org/drawingml/2006/main"/>
        </p:blipFill>
        <p:spPr>
          <a:xfrm xmlns:a="http://schemas.openxmlformats.org/drawingml/2006/main">
            <a:off x="1986986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5" name="Legenda - Sala, atividade e equipe">
            <a:extLst xmlns:a="http://schemas.openxmlformats.org/drawingml/2006/main">
              <a:ext uri="{FF2B5EF4-FFF2-40B4-BE49-F238E27FC236}">
                <a16:creationId xmlns:a16="http://schemas.microsoft.com/office/drawing/2014/main" id="{AB9B7359-FCEF-48D2-B17E-8BCF3FA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Sala, atividade e equipe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65b84316e4792"/>
          <a:stretch xmlns:a="http://schemas.openxmlformats.org/drawingml/2006/main"/>
        </p:blipFill>
        <p:spPr>
          <a:xfrm xmlns:a="http://schemas.openxmlformats.org/drawingml/2006/main">
            <a:off x="2381321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7" name="Legenda - Caderno de atividades">
            <a:extLst xmlns:a="http://schemas.openxmlformats.org/drawingml/2006/main">
              <a:ext uri="{FF2B5EF4-FFF2-40B4-BE49-F238E27FC236}">
                <a16:creationId xmlns:a16="http://schemas.microsoft.com/office/drawing/2014/main" id="{82F9FC84-D4B2-428C-9FA4-C49EF16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Caderno de atividades</a:t>
            </a:r>
          </a:p>
        </p:txBody>
      </p:sp>
    </p:spTree>
    <p:extLst>
      <p:ext uri="{BB962C8B-B14F-4D97-AF65-F5344CB8AC3E}">
        <p14:creationId xmlns:p14="http://schemas.microsoft.com/office/powerpoint/2010/main" val="1231887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2026-08-26T01:14:01.3450000Z</dcterms:created>
  <dcterms:modified xsi:type="dcterms:W3CDTF">2026-08-26T01:14:01.3450000Z</dcterms:modified>
</coreProperties>
</file>