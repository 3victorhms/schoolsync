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</p:sldIdLst>
  <p:sldSz cx="28803600" cy="432054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468C"/>
    <a:srgbClr val="574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F54AB7-ED6D-463C-9247-E04409241B50}" v="864" dt="2026-08-25T21:55:29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2592288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/>
          </p:nvPr>
        </p:nvSpPr>
        <p:spPr>
          <a:xfrm>
            <a:off x="1440000" y="23198400"/>
            <a:ext cx="2592288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1472292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1440000" y="2319840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/>
          </p:nvPr>
        </p:nvSpPr>
        <p:spPr>
          <a:xfrm>
            <a:off x="14722920" y="2319840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2592288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2592288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1265004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4722920" y="10109880"/>
            <a:ext cx="1265004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14722920" y="10109880"/>
            <a:ext cx="1265004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/>
          </p:nvPr>
        </p:nvSpPr>
        <p:spPr>
          <a:xfrm>
            <a:off x="1440000" y="2319840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1265004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1472292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14722920" y="2319840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44000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14722920" y="10109880"/>
            <a:ext cx="1265004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1440000" y="23198400"/>
            <a:ext cx="25922880" cy="119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2592252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440000" y="23198400"/>
            <a:ext cx="2592252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472292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1440000" y="2319840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14722920" y="2319840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10204560" y="1010988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18969480" y="1010988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1440000" y="2319840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10204560" y="2319840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18969480" y="23198400"/>
            <a:ext cx="834660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25922880" cy="2505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25922520" cy="2505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12649680" cy="2505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4722920" y="10109880"/>
            <a:ext cx="12649680" cy="2505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4722920" y="10109880"/>
            <a:ext cx="12649680" cy="2505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1440000" y="2319840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12649680" cy="2505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1472292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14722920" y="2319840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60360" y="13421520"/>
            <a:ext cx="24482520" cy="926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44000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4722920" y="10109880"/>
            <a:ext cx="1264968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1440000" y="23198400"/>
            <a:ext cx="25922520" cy="119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ionicframework.com/docs/angular/overview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docs.google.com/document/d/1nCfq04k6ZchTtpHZWoDBh-A7IAH2mBJQDW12E3l2VDo/edit?tab=t.0.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s://www.typescriptlan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675360" y="6081321"/>
            <a:ext cx="2714364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pt-BR" sz="6600" b="1" spc="-1">
                <a:solidFill>
                  <a:srgbClr val="000000"/>
                </a:solidFill>
                <a:latin typeface="Arial"/>
              </a:rPr>
              <a:t>SISTEMA DE NOTIFICAÇÃO DE PRODUTOS PARA PADARIAS</a:t>
            </a:r>
            <a:endParaRPr lang="pt-BR" sz="6600"/>
          </a:p>
        </p:txBody>
      </p:sp>
      <p:sp>
        <p:nvSpPr>
          <p:cNvPr id="64" name="CustomShape 2"/>
          <p:cNvSpPr/>
          <p:nvPr/>
        </p:nvSpPr>
        <p:spPr>
          <a:xfrm>
            <a:off x="29160" y="7649280"/>
            <a:ext cx="287240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pt-BR" sz="4800" spc="-1">
                <a:solidFill>
                  <a:srgbClr val="000000"/>
                </a:solidFill>
                <a:latin typeface="Arial"/>
                <a:ea typeface="Verdana"/>
              </a:rPr>
              <a:t>André Almeida Nunes</a:t>
            </a:r>
            <a:r>
              <a:rPr lang="pt-BR" sz="4800" b="0" strike="noStrike" spc="-1">
                <a:solidFill>
                  <a:srgbClr val="000000"/>
                </a:solidFill>
                <a:latin typeface="Arial"/>
                <a:ea typeface="Verdana"/>
              </a:rPr>
              <a:t>; </a:t>
            </a:r>
            <a:r>
              <a:rPr lang="pt-BR" sz="4800" spc="-1">
                <a:solidFill>
                  <a:srgbClr val="000000"/>
                </a:solidFill>
                <a:latin typeface="Arial"/>
                <a:ea typeface="Verdana"/>
              </a:rPr>
              <a:t>Eduardo Gonçalves Silva Rocha.</a:t>
            </a:r>
            <a:endParaRPr lang="pt-BR" sz="4800" b="0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pt-BR" sz="4800" spc="-1">
                <a:solidFill>
                  <a:srgbClr val="000000"/>
                </a:solidFill>
                <a:latin typeface="Arial"/>
                <a:ea typeface="Verdana"/>
              </a:rPr>
              <a:t>Maurílio Alves</a:t>
            </a:r>
            <a:r>
              <a:rPr lang="pt-BR" sz="4800" b="0" strike="noStrike" spc="-1">
                <a:solidFill>
                  <a:srgbClr val="000000"/>
                </a:solidFill>
                <a:latin typeface="Arial"/>
                <a:ea typeface="Verdana"/>
              </a:rPr>
              <a:t> </a:t>
            </a:r>
            <a:r>
              <a:rPr lang="pt-BR" sz="4800" spc="-1">
                <a:solidFill>
                  <a:srgbClr val="000000"/>
                </a:solidFill>
                <a:latin typeface="Arial"/>
                <a:ea typeface="Verdana"/>
              </a:rPr>
              <a:t>Martins da Costa </a:t>
            </a:r>
            <a:r>
              <a:rPr lang="pt-BR" sz="4800" b="0" strike="noStrike" spc="-1">
                <a:solidFill>
                  <a:srgbClr val="000000"/>
                </a:solidFill>
                <a:latin typeface="Arial"/>
                <a:ea typeface="Verdana"/>
              </a:rPr>
              <a:t>(</a:t>
            </a:r>
            <a:r>
              <a:rPr lang="pt-BR" sz="4800" spc="-1">
                <a:solidFill>
                  <a:srgbClr val="000000"/>
                </a:solidFill>
                <a:latin typeface="Arial"/>
                <a:ea typeface="Verdana"/>
              </a:rPr>
              <a:t>Orientador).</a:t>
            </a:r>
            <a:endParaRPr lang="pt-BR" sz="4800" b="0" strike="noStrike" spc="-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71" name="CustomShape 9"/>
          <p:cNvSpPr/>
          <p:nvPr/>
        </p:nvSpPr>
        <p:spPr>
          <a:xfrm>
            <a:off x="517217" y="19641214"/>
            <a:ext cx="13142932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indent="-457200"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O objetivo principal do trabalho é desenvolver um aplicativo 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móvel capaz de auxiliar clientes de padarias na consulta à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disponibilidade de produtos e no recebimento de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notificações relacionadas a essas informações.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Como objetivos específicos, busca-se desenvolver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uma interface que possibilite a interação dos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usuários com o sistema, disponibilizar informações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sobre os produtos das padarias cadastradas e </a:t>
            </a:r>
            <a:r>
              <a:rPr lang="pt-BR" sz="3600" spc="-1">
                <a:solidFill>
                  <a:schemeClr val="bg1"/>
                </a:solidFill>
                <a:ea typeface="+mn-lt"/>
                <a:cs typeface="+mn-lt"/>
              </a:rPr>
              <a:t>----------------------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permitir o envio de notificações aos clientes</a:t>
            </a:r>
            <a:r>
              <a:rPr lang="pt-BR" sz="3600" b="0" strike="noStrike" spc="-1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 Além disso, pretende-se aplicar, de forma integrada, conhecimentos adquiridos nas áreas de desenvolvimento de sistemas.</a:t>
            </a:r>
            <a:endParaRPr lang="pt-BR" sz="3600" spc="-1">
              <a:ea typeface="+mn-lt"/>
              <a:cs typeface="+mn-lt"/>
            </a:endParaRPr>
          </a:p>
        </p:txBody>
      </p:sp>
      <p:sp>
        <p:nvSpPr>
          <p:cNvPr id="72" name="CustomShape 10"/>
          <p:cNvSpPr/>
          <p:nvPr/>
        </p:nvSpPr>
        <p:spPr>
          <a:xfrm>
            <a:off x="519120" y="11447520"/>
            <a:ext cx="13348800" cy="70158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A disponibilidade de produtos em padarias pode variar ao longo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do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dia, fazendo com que clientes se desloquem até os estabelecimentos sem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a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garantia de encontrar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o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produto desejado. Nesse contexto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, o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uso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de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tecnologias móveis pode facilitar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o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acesso a informações sobre a disponibilidade de produtos e melhorar a comunicação entre estabelecimentos e consumidores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O Bakefy surge como uma proposta tecnológica voltada a esse cenário, permitindo que clientes consultem informações e recebam notificações relacionadas aos produtos disponibilizados por padarias cadastradas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O trabalho foi desenvolvido no âmbito acadêmico com tecnologias aplicáveis.</a:t>
            </a:r>
            <a:endParaRPr lang="pt-BR" sz="3600" spc="-1" dirty="0">
              <a:ea typeface="+mn-lt"/>
              <a:cs typeface="+mn-lt"/>
            </a:endParaRPr>
          </a:p>
          <a:p>
            <a:pPr algn="just" defTabSz="914400">
              <a:lnSpc>
                <a:spcPct val="100000"/>
              </a:lnSpc>
            </a:pPr>
            <a:r>
              <a:rPr lang="pt-BR" sz="5400" b="0" strike="noStrike" spc="-1" dirty="0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endParaRPr lang="pt-BR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CustomShape 11"/>
          <p:cNvSpPr/>
          <p:nvPr/>
        </p:nvSpPr>
        <p:spPr>
          <a:xfrm>
            <a:off x="395280" y="27763560"/>
            <a:ext cx="13319280" cy="8400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O desenvolvimento do Bakefy ocorreu no âmbito da disciplina Projeto Prático, por meio de aulas semanais e sob a orientação de técnicos administrativos, aplicando conhecimentos adquiridos nas disciplinas ofertadas pelo curso técnico de Desenvolvimento de Sistemas. Para a implementação do sistema, foram utilizadas tecnologias como Java, Angular, TypeScript, HTML, SCSS e PostgreSQL, além de ferramentas de inteligência artificial utilizadas como suporte durante o desenvolvimento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Ao longo do primeiro semestre, o sistema passou por oito avaliações realizadas por três docentes, nas quais foram examinadas suas funcionalidades, código, documentação, integração entre front-</a:t>
            </a:r>
            <a:r>
              <a:rPr lang="pt-BR" sz="3600" spc="-1" dirty="0" err="1">
                <a:solidFill>
                  <a:srgbClr val="000000"/>
                </a:solidFill>
                <a:ea typeface="+mn-lt"/>
                <a:cs typeface="+mn-lt"/>
              </a:rPr>
              <a:t>end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e </a:t>
            </a:r>
            <a:r>
              <a:rPr lang="pt-BR" sz="3600" spc="-1" dirty="0" err="1">
                <a:solidFill>
                  <a:srgbClr val="000000"/>
                </a:solidFill>
                <a:ea typeface="+mn-lt"/>
                <a:cs typeface="+mn-lt"/>
              </a:rPr>
              <a:t>back-end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e interface gráfica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As avaliações foram conduzidas por meio de apresentações, demonstrações das funcionalidades e interação direta com o aplicativo, possibilitando acompanhar a evolução.</a:t>
            </a:r>
            <a:endParaRPr lang="pt-BR" sz="36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4" name="CustomShape 12"/>
          <p:cNvSpPr/>
          <p:nvPr/>
        </p:nvSpPr>
        <p:spPr>
          <a:xfrm>
            <a:off x="20310427" y="18134228"/>
            <a:ext cx="7852475" cy="10616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Os resultados obtidos indicam que o Bakefy alcançou seu objetivo de desenvolver uma solução móvel voltada à consulta da disponibilidade de produtos e ao recebimento de notificações por clientes de padarias cadastradas. A obtenção de 49 dos 50 pontos disponíveis nas avaliações do primeiro semestre, juntamente com as considerações positivas dos três docentes envolvidos, demonstra a consistência da solução desenvolvida nos aspectos avaliados. </a:t>
            </a:r>
          </a:p>
          <a:p>
            <a:pPr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Como diferencial, o aplicativo integra </a:t>
            </a:r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recursos de consulta 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de produtos em uma aplicação direcionada a uma necessidade cotidiana, apresentando potencial para facilitar a relação entre consumidores </a:t>
            </a:r>
            <a:r>
              <a:rPr lang="pt-BR" sz="3600" b="0" strike="noStrike" spc="-1" dirty="0">
                <a:solidFill>
                  <a:srgbClr val="000000"/>
                </a:solidFill>
                <a:ea typeface="+mn-lt"/>
                <a:cs typeface="+mn-lt"/>
              </a:rPr>
              <a:t>e</a:t>
            </a:r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 estabelecimentos.</a:t>
            </a:r>
            <a:endParaRPr lang="pt-BR" sz="3600" spc="-1" dirty="0">
              <a:ea typeface="+mn-lt"/>
              <a:cs typeface="+mn-lt"/>
            </a:endParaRPr>
          </a:p>
        </p:txBody>
      </p:sp>
      <p:sp>
        <p:nvSpPr>
          <p:cNvPr id="75" name="CustomShape 13"/>
          <p:cNvSpPr/>
          <p:nvPr/>
        </p:nvSpPr>
        <p:spPr>
          <a:xfrm>
            <a:off x="14758920" y="30635280"/>
            <a:ext cx="1331928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O Bakefy demonstra a aplicação de recursos tecnológicos na solução de uma necessidade cotidiana, aproximando consumidores e padarias por meio de informações acessíveis e atualizadas. Além de contribuir para a formação acadêmica e tecnológica dos envolvidos, o projeto apresenta potencial de expansão e aprimoramento, podendo futuramente incorporar novos recursos e atender a novas demandas contextuais.</a:t>
            </a:r>
            <a:endParaRPr lang="pt-BR" sz="3600" spc="-1" dirty="0">
              <a:ea typeface="+mn-lt"/>
              <a:cs typeface="+mn-lt"/>
            </a:endParaRPr>
          </a:p>
          <a:p>
            <a:pPr algn="just" defTabSz="914400">
              <a:lnSpc>
                <a:spcPct val="100000"/>
              </a:lnSpc>
            </a:pP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ustomShape 14"/>
          <p:cNvSpPr/>
          <p:nvPr/>
        </p:nvSpPr>
        <p:spPr>
          <a:xfrm>
            <a:off x="14757480" y="36582840"/>
            <a:ext cx="1331928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3600" spc="-1" dirty="0">
                <a:solidFill>
                  <a:srgbClr val="000000"/>
                </a:solidFill>
                <a:ea typeface="+mn-lt"/>
                <a:cs typeface="+mn-lt"/>
              </a:rPr>
              <a:t>BAKEFY: Sistema de notificação de produtos para padarias. Disponível em:</a:t>
            </a:r>
            <a:r>
              <a:rPr lang="pt-BR" sz="3600" spc="-1" dirty="0">
                <a:ea typeface="+mn-lt"/>
                <a:cs typeface="+mn-lt"/>
              </a:rPr>
              <a:t> </a:t>
            </a:r>
            <a:r>
              <a:rPr lang="pt-BR" sz="3600" spc="-1" dirty="0">
                <a:ea typeface="+mn-lt"/>
                <a:cs typeface="+mn-lt"/>
                <a:hlinkClick r:id="rId2"/>
              </a:rPr>
              <a:t>Documentação do BAKEFY.</a:t>
            </a:r>
            <a:r>
              <a:rPr lang="pt-BR" sz="3600" spc="-1" dirty="0">
                <a:ea typeface="+mn-lt"/>
                <a:cs typeface="+mn-lt"/>
              </a:rPr>
              <a:t> Acesso em: 25 ago. 2026.IONIC. Visão geral do Ionic Angular. Disponível em: </a:t>
            </a:r>
            <a:r>
              <a:rPr lang="pt-BR" sz="3600" spc="-1" dirty="0">
                <a:ea typeface="+mn-lt"/>
                <a:cs typeface="+mn-lt"/>
                <a:hlinkClick r:id="rId3"/>
              </a:rPr>
              <a:t>Documentação do Ionic Angular</a:t>
            </a:r>
            <a:r>
              <a:rPr lang="pt-BR" sz="3600" spc="-1" dirty="0">
                <a:ea typeface="+mn-lt"/>
                <a:cs typeface="+mn-lt"/>
              </a:rPr>
              <a:t>. Acesso em: 25 ago. 2026.</a:t>
            </a:r>
          </a:p>
          <a:p>
            <a:r>
              <a:rPr lang="pt-BR" sz="3600" spc="-1" dirty="0">
                <a:ea typeface="+mn-lt"/>
                <a:cs typeface="+mn-lt"/>
              </a:rPr>
              <a:t>TYPESCRIPT. TypeScript is JavaScript with syntax for types. Disponível em: </a:t>
            </a:r>
            <a:r>
              <a:rPr lang="pt-BR" sz="3600" spc="-1" dirty="0">
                <a:ea typeface="+mn-lt"/>
                <a:cs typeface="+mn-lt"/>
                <a:hlinkClick r:id="rId4"/>
              </a:rPr>
              <a:t>Documentação do TypeScript</a:t>
            </a:r>
            <a:r>
              <a:rPr lang="pt-BR" sz="3600" spc="-1" dirty="0">
                <a:ea typeface="+mn-lt"/>
                <a:cs typeface="+mn-lt"/>
              </a:rPr>
              <a:t>. Acesso em: 25 ago. 2026.</a:t>
            </a:r>
            <a:endParaRPr lang="pt-BR"/>
          </a:p>
        </p:txBody>
      </p:sp>
      <p:sp>
        <p:nvSpPr>
          <p:cNvPr id="78" name="CustomShape 9"/>
          <p:cNvSpPr/>
          <p:nvPr/>
        </p:nvSpPr>
        <p:spPr>
          <a:xfrm>
            <a:off x="395280" y="38106360"/>
            <a:ext cx="1331928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pt-BR" sz="3600" spc="-1">
                <a:solidFill>
                  <a:srgbClr val="000000"/>
                </a:solidFill>
                <a:ea typeface="+mn-lt"/>
                <a:cs typeface="+mn-lt"/>
              </a:rPr>
              <a:t>O aplicativo mobile foi avaliado e, após ser submetido à testes abrangendo diferentes aspectos do projeto, na disciplina responsável pela gerência do projeto, o trabalho obteve 49 de 50 pontos, correspondendo a 98%</a:t>
            </a:r>
            <a:endParaRPr lang="pt-BR"/>
          </a:p>
        </p:txBody>
      </p:sp>
      <p:sp>
        <p:nvSpPr>
          <p:cNvPr id="79" name="CustomShape 9"/>
          <p:cNvSpPr/>
          <p:nvPr/>
        </p:nvSpPr>
        <p:spPr>
          <a:xfrm>
            <a:off x="14766120" y="11077560"/>
            <a:ext cx="13319280" cy="50768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pt-BR" sz="3600" spc="-1">
                <a:ea typeface="+mn-lt"/>
                <a:cs typeface="+mn-lt"/>
              </a:rPr>
              <a:t>da pontuação disponível. Além dos dados quantitativos, os avaliadores destacaram qualitativamente a utilidade e a funcionalidade da aplicação, especialmente sua capacidade de facilitar a consulta à disponibilidade de produtos. Também foi apontado que a solução pode contribuir para evitar deslocamentos desnecessários de clientes que desejam adquirir produtos específicos. Dessa forma, os resultados indicam que as funcionalidades desenvolvidas atendem à proposta inicial e demonstram a aplicabilidade do sistema ao contexto indicado.</a:t>
            </a:r>
          </a:p>
        </p:txBody>
      </p:sp>
      <p:sp>
        <p:nvSpPr>
          <p:cNvPr id="23" name="Google Shape;66;p14"/>
          <p:cNvSpPr/>
          <p:nvPr/>
        </p:nvSpPr>
        <p:spPr>
          <a:xfrm>
            <a:off x="-36836" y="4490693"/>
            <a:ext cx="28800552" cy="852427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4400" b="1" spc="-1">
                <a:solidFill>
                  <a:schemeClr val="lt1"/>
                </a:solidFill>
                <a:ea typeface="Verdana"/>
              </a:rPr>
              <a:t>Código: 0000C0  Área: Ciências Exatas e da Terra  Modalidade: Ciência Aplicada/Inovação Tecnológica</a:t>
            </a:r>
            <a:endParaRPr lang="pt-BR" sz="4400" spc="-1">
              <a:solidFill>
                <a:schemeClr val="lt1"/>
              </a:solidFill>
            </a:endParaRPr>
          </a:p>
          <a:p>
            <a:pPr algn="ctr"/>
            <a:endParaRPr lang="pt-BR" sz="6600" b="1" spc="-1">
              <a:solidFill>
                <a:schemeClr val="lt1"/>
              </a:solidFill>
              <a:ea typeface="Verdana"/>
            </a:endParaRPr>
          </a:p>
        </p:txBody>
      </p:sp>
      <p:sp>
        <p:nvSpPr>
          <p:cNvPr id="25" name="Google Shape;66;p14"/>
          <p:cNvSpPr/>
          <p:nvPr/>
        </p:nvSpPr>
        <p:spPr>
          <a:xfrm>
            <a:off x="576000" y="9958470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latin typeface="Arial" panose="020B0604020202020204" pitchFamily="34" charset="0"/>
                <a:ea typeface="Verdana"/>
                <a:cs typeface="Arial" panose="020B0604020202020204" pitchFamily="34" charset="0"/>
              </a:rPr>
              <a:t>RESUMO</a:t>
            </a:r>
          </a:p>
        </p:txBody>
      </p:sp>
      <p:sp>
        <p:nvSpPr>
          <p:cNvPr id="26" name="Google Shape;66;p14"/>
          <p:cNvSpPr/>
          <p:nvPr/>
        </p:nvSpPr>
        <p:spPr>
          <a:xfrm>
            <a:off x="576000" y="18246870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latin typeface="Arial" panose="020B0604020202020204" pitchFamily="34" charset="0"/>
                <a:ea typeface="Verdana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27" name="Google Shape;66;p14"/>
          <p:cNvSpPr/>
          <p:nvPr/>
        </p:nvSpPr>
        <p:spPr>
          <a:xfrm>
            <a:off x="14784840" y="16829799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latin typeface="Arial" panose="020B0604020202020204" pitchFamily="34" charset="0"/>
                <a:ea typeface="Verdana"/>
                <a:cs typeface="Arial" panose="020B0604020202020204" pitchFamily="34" charset="0"/>
              </a:rPr>
              <a:t>CONCLUSÕES</a:t>
            </a:r>
          </a:p>
        </p:txBody>
      </p:sp>
      <p:sp>
        <p:nvSpPr>
          <p:cNvPr id="28" name="Google Shape;66;p14"/>
          <p:cNvSpPr/>
          <p:nvPr/>
        </p:nvSpPr>
        <p:spPr>
          <a:xfrm>
            <a:off x="500400" y="26011545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ea typeface="Verdana"/>
              </a:rPr>
              <a:t>METODOLOGIA</a:t>
            </a:r>
            <a:endParaRPr lang="pt-BR" sz="5400" b="1" spc="-1">
              <a:solidFill>
                <a:schemeClr val="lt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endParaRPr>
          </a:p>
        </p:txBody>
      </p:sp>
      <p:sp>
        <p:nvSpPr>
          <p:cNvPr id="29" name="Google Shape;66;p14"/>
          <p:cNvSpPr/>
          <p:nvPr/>
        </p:nvSpPr>
        <p:spPr>
          <a:xfrm>
            <a:off x="14784120" y="28986440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ea typeface="Verdana"/>
              </a:rPr>
              <a:t>CONSIDERAÇÕES FINAIS</a:t>
            </a:r>
            <a:endParaRPr lang="pt-BR" sz="5400" spc="-1">
              <a:solidFill>
                <a:srgbClr val="000000"/>
              </a:solidFill>
            </a:endParaRPr>
          </a:p>
        </p:txBody>
      </p:sp>
      <p:sp>
        <p:nvSpPr>
          <p:cNvPr id="30" name="Google Shape;66;p14"/>
          <p:cNvSpPr/>
          <p:nvPr/>
        </p:nvSpPr>
        <p:spPr>
          <a:xfrm>
            <a:off x="14784120" y="35114040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ea typeface="Verdana"/>
              </a:rPr>
              <a:t>REFERÊNCIAS</a:t>
            </a:r>
            <a:endParaRPr lang="pt-BR" sz="5400" spc="-1">
              <a:solidFill>
                <a:srgbClr val="000000"/>
              </a:solidFill>
            </a:endParaRPr>
          </a:p>
        </p:txBody>
      </p:sp>
      <p:sp>
        <p:nvSpPr>
          <p:cNvPr id="31" name="Google Shape;66;p14"/>
          <p:cNvSpPr/>
          <p:nvPr/>
        </p:nvSpPr>
        <p:spPr>
          <a:xfrm>
            <a:off x="500400" y="36497565"/>
            <a:ext cx="13320000" cy="900000"/>
          </a:xfrm>
          <a:prstGeom prst="rect">
            <a:avLst/>
          </a:prstGeom>
          <a:solidFill>
            <a:srgbClr val="5446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pt-BR" sz="5400" b="1" spc="-1">
                <a:solidFill>
                  <a:schemeClr val="lt1"/>
                </a:solidFill>
                <a:ea typeface="Verdana"/>
              </a:rPr>
              <a:t>DADOS OBTIDOS E RESULTADOS</a:t>
            </a:r>
            <a:endParaRPr lang="pt-BR" sz="5400" spc="-1">
              <a:solidFill>
                <a:srgbClr val="00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BB8C9D-611B-C968-E128-CF7DD50800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39" y="-17854"/>
            <a:ext cx="28803601" cy="45611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C1B1000-C66F-91F2-22DD-A565A3E1D8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32" y="41819527"/>
            <a:ext cx="28803600" cy="137174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1AF808F-2380-C7F9-050F-F5719CD24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48" y="21183498"/>
            <a:ext cx="2371454" cy="265883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2718829-FA73-3AE3-9950-BABD245FF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3814" y="18110430"/>
            <a:ext cx="5625738" cy="10629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Personalizar</PresentationFormat>
  <Slides>1</Slides>
  <Notes>0</Notes>
  <HiddenSlides>0</HiddenSlides>
  <ScaleCrop>false</ScaleCrop>
  <HeadingPairs>
    <vt:vector size="4" baseType="variant">
      <vt:variant>
        <vt:lpstr>Tema</vt:lpstr>
      </vt:variant>
      <vt:variant>
        <vt:i4>12</vt:i4>
      </vt:variant>
      <vt:variant>
        <vt:lpstr>Títulos de slides</vt:lpstr>
      </vt:variant>
      <vt:variant>
        <vt:i4>1</vt:i4>
      </vt:variant>
    </vt:vector>
  </HeadingPairs>
  <TitlesOfParts>
    <vt:vector size="13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Usuário do Windows</dc:creator>
  <dc:description/>
  <cp:revision>151</cp:revision>
  <dcterms:created xsi:type="dcterms:W3CDTF">2018-08-01T22:33:10Z</dcterms:created>
  <dcterms:modified xsi:type="dcterms:W3CDTF">2026-08-25T22:06:35Z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Personalizar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1</vt:i4>
  </property>
</Properties>
</file>